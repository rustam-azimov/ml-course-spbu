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Что такое машинное обучение и как выглядит ML-проект?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Зачем нужен этот курс, из чего он состоит и с какой ошибки начинают почти все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О курсе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Пять минут организационного, потом переходим к делу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Из чего состоит курс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5163159" cy="123444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 w="15875">
            <a:solidFill>
              <a:srgbClr val="2B5CE6"/>
            </a:solidFill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2B5CE6"/>
                </a:solidFill>
                <a:latin typeface="Arial"/>
              </a:rPr>
              <a:t>Классический ML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8 лекций · 8 практик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01355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1295" y="1984248"/>
            <a:ext cx="5163159" cy="123444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 w="15875">
            <a:solidFill>
              <a:srgbClr val="2B5CE6"/>
            </a:solidFill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2B5CE6"/>
                </a:solidFill>
                <a:latin typeface="Arial"/>
              </a:rPr>
              <a:t>Глубокое обучение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8 лекций · 8 практик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Первая половина — данные, признаки, модели на табличных задачах. Вторая — нейросети, компьютерное зрение, трансформеры и большие языковые модели. Вторая половина опирается на первую: без понимания переобучения и валидации нейросети превращаются в гадание.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Первая половина: классический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337311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6434"/>
                <a:gridCol w="4432172"/>
                <a:gridCol w="5318607"/>
              </a:tblGrid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Тема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Что научитесь делать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Введение и ML-проект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Ставить задачу и не обманывать себя результатом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Данные, признаки, EDA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Готовить данные так, чтобы модель вообще заработала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Линейные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Понимать, как модель учится на градиентном спуске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Метрики и валидация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Честно измерять качество — самый важный навык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Деревья и ближайшие соседи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Работать с нелинейными зависимостями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Ансамбли и бустинг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Решать табличные задачи на уровне индустрии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Обучение без учителя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Находить структуру там, где нет разметки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Интерпретация и продакшен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Объяснять решения модели и доводить её до сервиса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 /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Вторая половина: глубокое 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337311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6434"/>
                <a:gridCol w="4432172"/>
                <a:gridCol w="5318607"/>
              </a:tblGrid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Тема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Что научитесь делать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 линейной модели к сети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Писать и обучать сети на PyTorch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Как реально обучать сети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Понимать, почему сеть не учится, и чинить это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Компьютерное зрение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Дообучать готовые модели под свою задачу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Attention и трансформер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Собрать трансформер своими руками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Большие языковые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Понимать, что происходит внутри LLM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Post-training и RL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Разбираться в SFT, RLHF, DPO и reasoning-моделях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RAG, LoRA, агенты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Строить прикладные системы поверх LLM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Генеративные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 диффузию, CLIP и мультимодальность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устроено оценивание?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Домашние задания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Всего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7 домашних работ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и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финальный проект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Базовый полный балл —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5</a:t>
            </a:r>
            <a:r>
              <a:rPr sz="1700" b="0" i="0">
                <a:solidFill>
                  <a:srgbClr val="181D27"/>
                </a:solidFill>
                <a:latin typeface="Arial"/>
              </a:rPr>
              <a:t>, с бонусными пунктами — до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10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Сдал до дедлайна — все заработанные баллы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Сдал после дедлайна — половина баллов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Каждая работа закрывает две лекции, дедлайн раз в две недели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Экзамен и автоматы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Экзамен —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два вопроса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по пройденным темам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Допуск к экзамену — от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15 баллов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27 баллов и больше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автомат «хорошо»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32 балла и больше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автомат «отлично»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Чем будем пользоваться?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Всё бесплатно и работает в браузере — своя видеокарта не нужна</a:t>
            </a:r>
          </a:p>
        </p:txBody>
      </p:sp>
      <p:pic>
        <p:nvPicPr>
          <p:cNvPr id="5" name="Picture 4" descr="qr_github_spb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2139696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08415" y="4590288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181D27"/>
                </a:solidFill>
                <a:latin typeface="Arial"/>
              </a:rPr>
              <a:t>Материалы курса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81D27"/>
                </a:solidFill>
                <a:latin typeface="Arial"/>
              </a:rPr>
              <a:t>github.com/rustam-azimov/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81D27"/>
                </a:solidFill>
                <a:latin typeface="Arial"/>
              </a:rPr>
              <a:t>ml-course-spbu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48256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Python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Основной язык, базовый синтаксис знаете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6114" y="2048256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NumPy · pandas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Массивы и таблицы, первая практика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4988" y="2048256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scikit-learn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Классические модели, единый интерфейс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20440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matplotlib · seaborn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Графики. Без визуализации данные немы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6114" y="3520440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PyTorch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Нейросети во второй половине курса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4988" y="3520440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Hugging Face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Готовые предобученные модели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92624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Google Colab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Блокноты с бесплатной видеокартой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6114" y="4992624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Git · GitHub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Материалы курса и сдача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Что такое машинное обучение?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И чем оно отличается от обычного программирования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two_paradig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491" y="566928"/>
            <a:ext cx="5696712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парадигмы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Разница не в том, что программу заменяет магия, а в том, откуда берутся правила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Обычное программирование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Человек формулирует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правила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явно, в коде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Программа получает данные и применяет к ним правила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Работает, когда правила известны и их можно выписать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Налоговый калькулятор, сортировка, парсер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1587" y="2048256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Машинное 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Человек даёт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данные и ответы</a:t>
            </a:r>
            <a:r>
              <a:rPr sz="1700" b="0" i="0">
                <a:solidFill>
                  <a:srgbClr val="181D27"/>
                </a:solidFill>
                <a:latin typeface="Arial"/>
              </a:rPr>
              <a:t>, правила ищет алгоритм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выходе — модель, которую применяют к новым данным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Работает, когда правила есть, но выписать их невозможно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Распознавание речи, рекомендации, кредитный скоринг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вершит судьбу человечества в этом мире?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Можем ли мы предсказать результаты процессов в реальном мире?</a:t>
            </a:r>
          </a:p>
        </p:txBody>
      </p:sp>
      <p:pic>
        <p:nvPicPr>
          <p:cNvPr id="5" name="Picture 4" descr="guts_f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736" y="2048256"/>
            <a:ext cx="4220224" cy="4215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Можем ли мы предсказать, вернёт ли человек кредит?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Учесть всё невозможно — процесс заменяем моделью, которую умеем вычислить. А раз это упрощение, модель ошибается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видит только измеренное: доход, историю платежей, срок кредита. Здоровье, работа, семья и случай остаются за скобками — отсюда и ошибки.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Какую из этих задач разумно решать машинным обучением?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Посчитать НДС по известной ставке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Отсортировать список фамилий по алфавиту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Определить, спам ли письмо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Перевести градусы Цельсия в Фаренгейты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Какую из этих задач разумно решать машинным обучением?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Посчитать НДС по известной ставке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Отсортировать список фамилий по алфавиту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Определить, спам ли письмо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5478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Перевести градусы Цельсия в Фаренгейты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Только спам. В трёх остальных задачах правило известно точно — оно пишется кодом за пять минут и не ошибается. Машинное обучение нужно там, где правило существует, но выписать его человек не в состоянии: у спама тысячи признаков, и меняются они каждый месяц.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Задача, где правила выписать нельзя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Отличить на фотографии кошку от собаки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Попробуйте сформулировать правило. Уши? У некоторых пород они одинаковые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Размер? На фотографии нет масштаба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Форма морды? Опишите её словами так, чтобы получился работающий код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Человек решает эту задачу мгновенно, но не может объяснить как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Так и работает ML: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мы не описываем кошку, мы показываем десять тысяч фотографий кошек и десять тысяч фотографий собак — и алгоритм сам находит различающие признаки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Признаков не хватает, чтобы выписать правило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at_dog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839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13404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Даже два признака не дают чистого правила: у границы кошки и собаки перемешаны. Человек различает их по десяткам мелких признаков, которые не может назвать словами.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Формальное определение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Классика жанра — определение Тома Митчелла, 1997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85416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Программа обучается на опыте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относительно класса задач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меры качества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если её качество на задачах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измеренное через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растёт с накоплением опыта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5234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Звучит громоздко, но смысл простой: есть задача, есть способ измерить успех, и есть данные, от которых успех растёт.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584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задачи «отличить спам от не-спама»: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2277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T — классификация писем · E — размеченный архив писем · P —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это выглядит на практике?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supervised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94" y="1572768"/>
            <a:ext cx="8034707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Мы не описываем, чем кошка отличается от собаки. Мы показываем размеченные примеры, а модель сама находит различающие признаки — и применяет их к новому объекту.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Где это уже работает?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Скорее всего, вы пользовались этим сегодня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Поиск и рекомендации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Ранжирование выдачи, лента, подбор товаров и музыки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0514" y="2048256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Финансы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Кредитный скоринг, обнаружение мошеннических операций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3788" y="2048256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Медицина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Анализ снимков, предсказание рисков, подбор терапии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32504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Промышленность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Предсказание отказа оборудования, контроль качества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0514" y="4032504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Языковые модели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Перевод, генерация текста, ассистенты в редакторе кода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3788" y="4032504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Транспорт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Прогноз спроса, маршрутизация, автономное вождение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задачи целиком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Чтобы стало понятно, из чего состоит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Отток клиентов.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 — клиент, признаки: сколько платит, как часто заходит, сколько обращений в поддержку. Ответ: ушёл в течение трёх месяцев или нет. Даёт: список тех, кому стоит позвонить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Стоимость квартиры.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 — объявление, признаки: площадь, этаж, район, год постройки. Ответ: цена сделки. Даёт: оценку, с которой сравнивают запрашиваемую цену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Брак на производстве.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 — деталь, признаки: показания датчиков во время изготовления. Ответ: прошла контроль или нет. Даёт: раннее предупреждение до контроля качества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Во всех трёх случаях сначала формулируют, что предсказываем и откуда берутся ответы. Только потом пишут код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ИИ, машинное обучение и глубокое 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Искусственный интеллект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Всё, что имитирует разумное поведение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661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Машинное обучение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Поведение выводится из данных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598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Глубокое обучение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Модели на нейронных сетях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Вложенные множества, а не синонимы. Экспертная система из правил — это ИИ, но не ML. Линейная регрессия — это ML, но не глубокое обучение. Термин «Data Science» шире всех трёх: он включает и сбор данных, и аналитику, и коммуникацию результата.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Классический ML или большая модель?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Классический ML справится лучше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Табличные данные: клиенты, транзакции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Нужна интерпретируемость: объяснить отказ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Данных немного, разметка своя, домен узкий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Важны скорость отклика и цена инференса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Бустинг всё ещё бьёт сети на таблицах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Нужна большая модель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Текст, изображения, звук, видео — неструктурированные данные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Задача требует общих знаний о мире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Своей разметки мало, но есть готовая предобученная модель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Нужна гибкость: одна модель на много разных задач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Генерация, а не только предсказание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Типы задач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Что вообще можно попросить у модели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больших семейства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С учителем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Есть объекты и правильные ответы к ним. Учимся предсказывать ответ для новых объектов. Основная часть курса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0514" y="1572768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Без учителя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Есть объекты, ответов нет. Ищем структуру: группы похожих, аномалии, скрытые закономерности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3788" y="1572768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С подкреплением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Агент действует в среде и получает награду. Учится стратегии. Вернёмся к этому в теме про обучение языковых моделей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Обучение с учителем: две главные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Регрессия — предсказываем число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Стоимость квартиры по её характеристикам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Спрос на товар на следующей неделе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Время доставки заказа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Ответ — любое вещественное число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Классификация — предсказываем класс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Спам или не спам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Какая цифра на картинке: одна из десяти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Уйдёт клиент или останется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Ответ — метка из конечного набора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задачи рядом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regression_vs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04" y="1572768"/>
            <a:ext cx="10060687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 ответ — число, и модель проводит линию тренда. Справа ответ — метка класса, а границу нарисовала обученная логистическая регрессия: четыре объекта из 140 остались не на своей стороне — идеальной границы обычно не бывает.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Обучение без учителя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Кластеризация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Разбить клиентов на группы по поведению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Сгруппировать новости по сюжетам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Заранее неизвестно, какие группы получатся и сколько их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Снижение размерности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Сжать сотни признаков до двух и увидеть данные на графике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Убрать шум и избыточность перед обучением модели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Сюда же — поиск аномалий: что не похоже на остальное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Главный вопрос перед началом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Что именно мы предсказываем и откуда возьмём правильные ответы?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на этот вопрос нет чёткого ответа — задачи машинного обучения ещё нет. Есть желание применить машинное обучение, а это не одно и то же.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Как устроена задача?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Объекты, признаки, модель, функция потерь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Данные: объекты и признаки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Объект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то, о чём делаем предсказание: клиент, письмо, фотография, транзакция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Признак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измеримое свойство объекта: возраст, сумма покупки, длина текста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Целевая переменная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то, что предсказываем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Данные складывают в таблицу: строка — объект, столбец — признак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Столбцов обычно от десятка до тысяч, строк — от сотен до миллионов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выглядит выборка на самом деле?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data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96" y="1572768"/>
            <a:ext cx="8304103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Классические данные о пассажирах «Титаника» — с ними будем работать на практике. Пропуски и категории вроде порта посадки здесь норма, а не исключение: вторая лекция целиком про то, как привести такую таблицу в пригодный для модели вид.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Обозначения, которые будут весь курс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Обучающая выборка из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n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объектов, у каждого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d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признаков:</a:t>
            </a:r>
          </a:p>
        </p:txBody>
      </p:sp>
      <p:pic>
        <p:nvPicPr>
          <p:cNvPr id="5" name="Picture 4" descr="39745a3efc1e62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907" y="2185416"/>
            <a:ext cx="361188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535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Отдельный объект — строка матрицы, его ответ — соответствующий элемент вектора:</a:t>
            </a:r>
          </a:p>
        </p:txBody>
      </p:sp>
      <p:pic>
        <p:nvPicPr>
          <p:cNvPr id="7" name="Picture 6" descr="be3bdb5d8c99c1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282" y="3429000"/>
            <a:ext cx="446913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13308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Задача — найти функцию, которая по признакам объекта выдаёт близкий к правильному ответ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Типы признаков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От типа зависит, что с признаком можно делать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24932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79403"/>
                <a:gridCol w="3799005"/>
                <a:gridCol w="4558806"/>
              </a:tblGrid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Тип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Примеры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Особенность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Количественный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Возраст, цена, температура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Можно складывать и усреднять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Порядковый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Оценка от 1 до 5, уровень образования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Порядок есть, расстояние между значениями — нет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Категориальный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Город, бренд, тип оплаты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Порядка нет, нужно кодировать числами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Бинарный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Подписан или нет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Частный случай категориального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Дата и время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Момент покупки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Разворачивается в десяток полезных признаков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Текст, изображение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Отзыв, фотография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Требует отдельной обработки — вторая половина курса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33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Модель и функция потерь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Модель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функция с настраиваемыми параметрами, которая по признакам выдаёт предсказание:</a:t>
            </a:r>
          </a:p>
        </p:txBody>
      </p:sp>
      <p:pic>
        <p:nvPicPr>
          <p:cNvPr id="5" name="Picture 4" descr="dcbebac73f86b7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878" y="2185416"/>
            <a:ext cx="1789938" cy="464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42081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Функция потерь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измеряет, насколько предсказание разошлось с правдой на всей выборке:</a:t>
            </a:r>
          </a:p>
        </p:txBody>
      </p:sp>
      <p:pic>
        <p:nvPicPr>
          <p:cNvPr id="7" name="Picture 6" descr="2520c51c7827a7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159" y="3417569"/>
            <a:ext cx="4151376" cy="9784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688585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Обучение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это поиск параметров, при которых потери минимальны:</a:t>
            </a:r>
          </a:p>
        </p:txBody>
      </p:sp>
      <p:pic>
        <p:nvPicPr>
          <p:cNvPr id="9" name="Picture 8" descr="2186cdca8c808b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798" y="5164073"/>
            <a:ext cx="3070098" cy="5920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048755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Вся первая половина курса — вариации на эту тему: разные f, разные ℓ, разные способы искать минимум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34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Как не обмануть самого себя?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Самая важная часть лекции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Модель нужна не для того, чтобы запомнить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Можно построить модель, которая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идеально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отвечает на обучающих данных: просто запомнить все ответы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Качество на обучающей выборке будет стопроцентным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новых данных такая модель бесполезна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Нам нужна обобщающая способность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качество на данных, которых модель не видела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Отсюда следует всё остальное в этом разделе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Разделение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rain_val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8650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639012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Тестовая выборка — как запечатанный конверт. Каждый раз, когда вы смотрите в неё и после этого что-то меняете в модели, вы понемногу подгоняете модель под тест, и честная оценка качества исчезает.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Модель отвечает правильно на 100% обучающих объектов. Что это говорит о её качестве?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Она отличная, можно отдавать в работу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Практически ничего не говорит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Она недообучена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Данных слишком мало, нужно ещё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отвечает правильно на 100% обучающих объектов. Что это говорит о её качестве?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Она отличная, можно отдавать в работу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Практически ничего не говорит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Она недообучена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Данных слишком мало, нужно ещё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Практически ничего. Любую обучающую выборку можно просто запомнить: таблица «объект → ответ» даёт ровно 100% и нулевую пользу. Качество модели измеряется только на данных, которых она не видела.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Недообучение и переобучение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Недообучение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слишком простая для данных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Плохое качество и на обучении, и на тесте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Прямая линия там, где зависимость изогнута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Лечится усложнением модели и лучшими признаками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Переобучение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слишком гибкая, выучила шум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Отличное качество на обучении, плохое на тесте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Кривая, проходящая ровно через каждую точку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Лечится упрощением, регуляризацией, бо́льшим объёмом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40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Одни и те же точки, три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994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767954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 модель не смогла уловить закономерность, справа — уловила вместе с шумом. Обучающие точки во всех трёх случаях одинаковые: разница только в сложности модели.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Разрыв между качеством на обучении и на тесте — главный диагностический признак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Одинаково плохо и там, и там — недообучение. Хорошо на обучении и плохо на тесте — переобучение.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Предсказываем, вернёт ли клиент кредит. Какой признак почти наверняка испортит модель?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Возраст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Сумма и срок кредита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Число звонков от службы взыскания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Регион проживания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Предсказываем, вернёт ли клиент кредит. Какой признак почти наверняка испортит модель?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Возраст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Сумма и срок кредита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Число звонков от службы взыскания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8587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Регион проживания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Звонки от службы взыскания. Они появляются только после того, как клиент перестал платить, — то есть уже содержат ответ. На обучении такая модель покажет почти идеальный результат, а в работе окажется бесполезной: в момент выдачи кредита этого признака ещё не существует.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Утечка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Ошибка, которая убивает больше моделей, чем все остальные вместе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Утечка (data leakage)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когда в признаках оказывается информация, недоступная в момент реального предсказания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показывает превосходное качество на валидации и разваливается в продакшене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Коварство в том, что метрики выглядят прекрасно — и это радует, а не настораживает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Правило: спрашивайте себя, будет ли этот признак известен в момент, когда предсказание реально понадобится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Чем заканчивается утечка?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leakage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157" y="1572768"/>
            <a:ext cx="7979381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 утечкой показывает прекрасный результат ровно до того момента, как попадает к реальным данным. Честная модель скромнее на бумаге, но её результат воспроизводится.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Пять типичных утечек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4" cy="208566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32172"/>
                <a:gridCol w="6205042"/>
              </a:tblGrid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Что произошло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Почему это утечка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Признак «дата закрытия счёта» при предсказании оттока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Счёт закрывают уже после оттока — в момент предсказания даты нет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Масштабирование посчитано на всех данных сразу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Среднее и разброс тестовой выборки подсмотрены при обучении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Заполнение пропусков средним по всему датасету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То же самое: тест повлиял на обучение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Дубликаты объектов разъехались между train и test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Модель отвечает на тесте по памяти, а не по обобщению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Случайное разбиение данных, у которых есть время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Модель учится на будущем и предсказывает прошлое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от этого защищаться?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Все преобразования — внутри пайплайна, который обучается только на 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32683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6B7484"/>
                </a:solidFill>
                <a:latin typeface="Courier New"/>
              </a:rPr>
              <a:t># 1. Сначала делим данные — до любой обработки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X_train, X_test, y_train, y_test = train_test_split(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   X, y, test_size=0.2, random_state=42, stratify=y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6B7484"/>
                </a:solidFill>
                <a:latin typeface="Courier New"/>
              </a:rPr>
              <a:t># 2. Все преобразования собираем в пайплайн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model = Pipeline([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   ("scaler", StandardScaler()),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   ("clf", LogisticRegression(max_iter=1000)),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])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6B7484"/>
                </a:solidFill>
                <a:latin typeface="Courier New"/>
              </a:rPr>
              <a:t># 3. При кросс-валидации scaler обучается заново на каждом фолде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scores = cross_val_score(model, X_train, y_train, cv=5)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99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Пайплайн — не косметика, а защита от утечки. Разберём подробно на второй лекции и будем требовать во всех домашних работах.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Как подходить к задаче?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Порядок действий, который экономит недели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Жизненный цикл ML-проекта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Постановка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что предсказываем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и как измеряем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6418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1925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Данные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сбор, чистка,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анализ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26610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Признаки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преобразование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и отбор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1355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1295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Модель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обучение,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подбор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5980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Оценка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проверка,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анализ ошибок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6292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00665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Внедрение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сервис,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мониторинг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Стрелки идут не только вперёд. Оценка почти всегда отправляет обратно к признакам или к данным, а иногда и к постановке задачи. Реальный проект — это несколько кругов, а не один проход.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На что в ML-проекте уходит больше всего времени?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обучение моделей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подбор гиперпараметров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данные: поиск, чистку, признаки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отчёт и презентацию результата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что в ML-проекте уходит больше всего времени?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 обучение моделей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 подбор гиперпараметров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На данные: поиск, чистку, признаки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7078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 отчёт и презентацию результата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данные — обычно 60–80% времени. Обучить модель в scikit-learn это три строки; найти данные, понять их, починить и превратить в признаки — недели. Поэтому следующая лекция целиком про данные.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 что на самом деле уходит время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im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32" y="1572768"/>
            <a:ext cx="9197431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Обучение моделей — самая заметная часть работы и далеко не самая долгая. Больше всего времени уходит на данные: их нужно найти, понять, почистить и превратить в признаки.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53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628" y="566928"/>
            <a:ext cx="6846439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54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Начинайте с тупого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Baseline-first — правило, которое стоит усвоить сразу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Baseline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простейшее решение, с которым сравнивают всё остальное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регрессии: всегда предсказывать среднее значение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классификации: всегда предсказывать самый частый класс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Следующий шаг — простая модель на нескольких очевидных признаках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Зачем это нужно: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Показывает, есть ли в задаче вообще сигнал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Даёт точку отсчёта: рост качества на 2% — это много или мало?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Быстро вскрывает проблемы с данными и утечки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Иногда baseline оказывается достаточным, и проект на этом закончен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55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Модель, которая на 3% лучше, но требует месяц работы и сложного внедрения, часто проигрывает baseline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Хорошее инженерное решение — не самое точное, а то, у которого лучшее отношение пользы к стоимости.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56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Единый интерфейс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Один и тот же код работает для любой модели — меняется одна строка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2885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from sklearn.ensemble import RandomForestClassifier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from sklearn.metrics import accuracy_score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 = RandomForestClassifier(n_estimators=200, random_state=42)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model.fit(X_train, y_train)              # обучение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predictions = model.predict(X_test)      # предсказание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probabilities = model.predict_proba(X_test)   # вероятности классов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print(accuracy_score(y_test, predictions))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16576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fit — обучить, predict — предсказать, transform — преобразовать. Этих трёх методов хватает почти на весь классический ML. Заменив одну строку с моделью, вы получаете другой алгоритм без изменения остального кода.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57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этой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Машинное обучение выводит правила из данных — там, где выписать их вручную невозможно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Задача определяется тройкой: что предсказываем, откуда ответы, как измеряем успех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Обучение — это минимизация функции потерь по параметрам модели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Качество на обучающих данных ничего не значит. Значение имеет только качество на данных, которых модель не видела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Утечка данных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главная причина, по которой отличные на бумаге модели проваливаются в реальности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Начинать всегда с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59 /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делать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Практика 1: NumPy, pandas и первый baseline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Освежить основы Python, если давно не писали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Завести аккаунт на Kaggle — понадобится для соревнования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Документация scikit-learn — раздел Getting Started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Andrew Ng, «Machine Learning Yearning» — про постановку задач, без формул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Kaggle Learn — короткие практические уроки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Стэнфордский курс CS229 — если хочется математической строгости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60 /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