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5CE6"/>
                </a:solidFill>
                <a:latin typeface="Arial"/>
              </a:rPr>
              <a:t>Машинное обучение · Лекция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81D27"/>
                </a:solidFill>
                <a:latin typeface="Arial"/>
              </a:rPr>
              <a:t>Как понять, что модель работает?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6B7484"/>
                </a:solidFill>
                <a:latin typeface="Arial"/>
              </a:rPr>
              <a:t>Метрики, схемы валидации и подбор гиперпараметров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57800"/>
            <a:ext cx="2011680" cy="1905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81D27"/>
                </a:solidFill>
                <a:latin typeface="Arial"/>
              </a:rPr>
              <a:t>Рустам Азимов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Умение честно измерить качество важнее умения выбрать алгоритм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с ошибочно измеренным качеством хуже отсутствия модели: она даёт ложную уверенность и попадает в продакшен.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Три вопроса этой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Чем измерять?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Какую метрику выбрать под конкретную задачу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На чём измерять?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Как разбивать данные, чтобы оценка была честной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Как выбирать?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Как подбирать гиперпараметры и не переобучиться на валидации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Метрики регрессии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Основные метрики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MSE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RMSE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квадратичная ошибка, чувствительна к крупным промахам:</a:t>
            </a:r>
          </a:p>
        </p:txBody>
      </p:sp>
      <p:pic>
        <p:nvPicPr>
          <p:cNvPr id="5" name="Picture 4" descr="b455e4f8648755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75" y="2185416"/>
            <a:ext cx="6638544" cy="5509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02895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MAE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средний модуль ошибки, устойчива к выбросам:</a:t>
            </a:r>
          </a:p>
        </p:txBody>
      </p:sp>
      <p:pic>
        <p:nvPicPr>
          <p:cNvPr id="7" name="Picture 6" descr="7c795b31604465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941" y="3504438"/>
            <a:ext cx="3067812" cy="5166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313681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MAPE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относительная ошибка в процентах:</a:t>
            </a:r>
          </a:p>
        </p:txBody>
      </p:sp>
      <p:pic>
        <p:nvPicPr>
          <p:cNvPr id="9" name="Picture 8" descr="abd1f45653f626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902" y="4789169"/>
            <a:ext cx="3707891" cy="612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Какую выбрать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2602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72869"/>
                <a:gridCol w="4432172"/>
                <a:gridCol w="4432172"/>
              </a:tblGrid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Метрика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Когда подходит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Подвох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RMSE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Крупные ошибки особенно нежелательны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Один выброс портит всю картину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MAE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Все ошибки равнозначны, есть выбросы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Хуже дифференцируется при оптимизации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MAPE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Нужна относительная ошибка, разный масштаб объектов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Взрывается при значениях около нуля, штрафует завышение слабее занижения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Нужно сравнение с тривиальным предсказанием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Растёт при добавлении любых признаков, даже случайных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Коэффициент детерминации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Показывает, насколько модель лучше предсказания средним:</a:t>
            </a:r>
          </a:p>
        </p:txBody>
      </p:sp>
      <p:pic>
        <p:nvPicPr>
          <p:cNvPr id="5" name="Picture 4" descr="a82536c5b25a0c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094" y="2185416"/>
            <a:ext cx="2905506" cy="765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24383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R² = 1 — идеально · R² = 0 — не лучше среднего · R² &lt; 0 — хуже среднего, и такое бывает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7 / 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Метрики классификации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Здесь всё сложнее и интереснее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 выборке 1000 писем, из них 10 — спам. Модель всегда отвечает «не спам». Какая у неё доля правильных ответов?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Около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Посчитать нельзя, не хватает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9 /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 выборке 1000 писем, из них 10 — спам. Модель всегда отвечает «не спам». Какая у неё доля правильных ответов?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Около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Посчитать нельзя, не хватает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99% — и при этом модель бесполезна: она не поймала ни одного спама. На несбалансированных данных доля правильных ответов почти ничего не говорит. Нужны метрики, которые смотрят на редкий класс отдельно, — их разберём прямо сейчас. И любую из них обязательно сравнивают с константным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10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accuracy обманывает?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Задача: выявить мошеннические операции, их доля — 0.5%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Модель, которая всегда отвечает «не мошенничество», даёт accuracy 99.5%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Она не поймала ни одного мошенника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Accuracy осмысленна только при сбалансированных классах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 одинаковой цене ошибок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 реальных задачах не выполняется ни то, ни другое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11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accuracy_vs_valid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10637215" cy="37527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20884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Высокая accuracy — ещё не повод радоваться. Первый вопрос к любой модели: сколько объектов нужного класса она вообще нашла.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12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Четыре числа, из которых выводятся все остальные метрики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4" cy="30209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01058"/>
                <a:gridCol w="3868078"/>
                <a:gridCol w="3868078"/>
              </a:tblGrid>
              <a:tr h="10069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Предсказано: положительный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Предсказано: отрицательный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10069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На самом деле положительный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TP — верно найден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FN — пропуск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10069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На самом деле отрицательный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FP — ложная тревога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TN — верно отвергнут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13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Precision и Recall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Precision (точность)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какая доля тревог оказалась настоящей:</a:t>
            </a:r>
          </a:p>
        </p:txBody>
      </p:sp>
      <p:pic>
        <p:nvPicPr>
          <p:cNvPr id="5" name="Picture 4" descr="7bfc9be0c974bd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800" y="2185416"/>
            <a:ext cx="3038094" cy="4869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6494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Recall (полнота)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какую долю настоящих случаев мы поймали:</a:t>
            </a:r>
          </a:p>
        </p:txBody>
      </p:sp>
      <p:pic>
        <p:nvPicPr>
          <p:cNvPr id="7" name="Picture 6" descr="a2e2af6117d7c8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259" y="3440430"/>
            <a:ext cx="2551176" cy="4869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21995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Precision отвечает за качество срабатываний, recall — за их полноту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14 / 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Разберём на числах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Скрининг: 10 000 человек, больны 100 из них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отметила 150 человек как больных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Из них действительно больны 80 — это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TP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Ошиблась на 70 здоровых — это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FP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ложные тревоги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Пропустила 20 больных — это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FN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Precision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= 80 / 150 = 0.53 — половина тревог ложные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Recall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= 80 / 100 = 0.80 — нашли четырёх больных из пяти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Accuracy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= (80 + 9780) / 10000 =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0.986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и это число не говорит ни о чём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15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Массовый скрининг на редкое опасное заболевание. Что важнее — precision или recall?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Precision: нельзя пугать здоровых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Recall: пропустить больного дороже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Обе одинаково важны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Ни то ни другое, хватит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16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Массовый скрининг на редкое опасное заболевание. Что важнее — precision или recall?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Precision: нельзя пугать здоровых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740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44952"/>
            <a:ext cx="10637215" cy="448056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Recall: пропустить больного дороже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3182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1501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02736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Обе одинаково важны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896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 то ни другое, хватит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473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37215" cy="1408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Recall. Ложная тревога стоит одного уточняющего анализа, пропущенная болезнь может стоить жизни. Порог сдвигают в сторону recall сознательно, а precision добирают вторым, более дорогим тестом.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17 / 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важнее — зависит от цены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Важнее recall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Скрининг онкологии: пропустить больного нельзя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Обнаружение утечек, отказов оборудования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Поиск мошенничества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Ложная тревога дешевле пропуска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Важнее precision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Блокировка аккаунтов: заблокировать невиновного дорого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Рассылка дорогого предложения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Рекомендации на первом экране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Пропуск дешевле ложной тревоги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18 / 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F-мера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Когда нужен один компромиссный показатель — гармоническое среднее:</a:t>
            </a:r>
          </a:p>
        </p:txBody>
      </p:sp>
      <p:pic>
        <p:nvPicPr>
          <p:cNvPr id="5" name="Picture 4" descr="6c3371b31a5694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624" y="2185416"/>
            <a:ext cx="3568446" cy="5074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85516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одна из величин важнее, используют взвешенный вариант:</a:t>
            </a:r>
          </a:p>
        </p:txBody>
      </p:sp>
      <p:pic>
        <p:nvPicPr>
          <p:cNvPr id="7" name="Picture 6" descr="d4429ffc627518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825" y="3461004"/>
            <a:ext cx="4924044" cy="6172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37083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β &gt; 1 смещает вес в сторону recall, β &lt; 1 — в сторону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19 / 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Разбор: как выбирали метрику в трёх задачах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Одинаковых ответов не бывает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Поиск мошеннических операций.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Пропуск стоит денег, ложная тревога — минуты работы оператора. Взяли recall при ограничении precision снизу: «поймать максимум при не более чем 20% ложных»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Рекомендации товаров.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Пользователь видит пять позиций. Взяли precision@5 — что дальше пятой строки, не важно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Прогноз спроса на складе.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Недозаказ дороже перезаказа примерно втрое. Взяли квантильную ошибку со сдвигом, а не симметричную MAE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Во всех трёх случаях метрика следовала из цены ошибки, а не из списка популярных метрик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20 /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Несколько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Метрики обобщаются тремя способами, и они дают разные ответы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macro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считаем метрику для каждого класса и усредняем. Все классы равноправны, редкий класс весит столько же, сколько частый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weighted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то же, но с весом по числу объектов. Редкий класс почти не влияет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micro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суммируем TP, FP, FN по всем классам и считаем один раз. При однозначной классификации совпадает с accuracy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Если важны редкие классы — берите macro.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Weighted покажет красивую картину, скрыв провал на редком классе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 </a:t>
            </a:r>
            <a:r>
              <a:rPr sz="1700" b="0" i="0">
                <a:solidFill>
                  <a:srgbClr val="181D27"/>
                </a:solidFill>
                <a:latin typeface="Courier New"/>
              </a:rPr>
              <a:t>classification_report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выводятся все три — смотрите на расхождение между ними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21 / 52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Порог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Модель выдаёт вероятность, а не класс — класс получается сравнением с порогом</a:t>
            </a:r>
          </a:p>
        </p:txBody>
      </p:sp>
      <p:pic>
        <p:nvPicPr>
          <p:cNvPr id="5" name="Picture 4" descr="threshold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568" y="2048256"/>
            <a:ext cx="9410559" cy="3151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Порог 0.5 — произвольное число, а не закон природы. Сдвигаем влево: растёт recall, падает precision. Вправо — наоборот. Это бизнес-решение, и подбирают его на валидации, исходя из цены ошибок каждого типа.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22 / 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Метрики ранжирования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Когда важен не класс, а порядок — поиск, рекомендации, скоринг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Precision@k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какая доля из первых k выданных объектов релевантна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Recall@k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какую долю всех релевантных мы показали в первых k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MAP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усреднённая точность по позициям, учитывает порядок внутри выдачи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NDCG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учитывает и порядок, и степень релевантности, а не только «да/нет»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Общая мысль: пользователь смотрит первые пять позиций, поэтому ошибка на сотой строке почти ничего не стоит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Задачи ранжирования выходят за рамки курса, но знать о существовании этих метрик полезно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23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Две кривые для оценки модели целиком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ROC-кривая и ROC-AUC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 осям: доля ложных тревог и доля пойманных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AUC — вероятность, что случайный положительный объект получит больший балл, чем случайный отрицательный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0.5 — случайное угадывание, 1.0 — идеал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Проблема: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при сильном дисбалансе выглядит оптимистично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PR-кривая и PR-AUC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 осям: recall и precision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 учитывает верно отвергнутые отрицательные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При дисбалансе честнее ROC-AUC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Базовый уровень равен доле положительного класса, а не 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24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Одна модель, две кривые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53" y="1572768"/>
            <a:ext cx="10024389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Доля положительного класса здесь 3%. ROC-кривая почти прижата к идеалу, а PR-кривая показывает настоящее положение дел: при разумной полноте точность падает до трети.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25 / 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При дисбалансе классов смотрите PR-AUC, а не ROC-AUC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Классический пример: доля положительных 1%. Модель с ROC-AUC 0.95 может иметь precision 10% — то есть девять ложных тревог на одно попадание. ROC-кривая этого не покажет.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26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Схемы валидации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чём измерять качество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Насколько можно доверять разнице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Модель A даёт 0.842, модель B — 0.851. Это победа?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Смотрим на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разброс между фолдами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. Если он 0.02, то разница 0.009 ничего не значит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Простое правило: разница меньше стандартного отклонения — считайте, что модели равны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Практический вывод: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выбирайте более простую и быструю модель, если разница в пределах шума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Соревнования приучают гнаться за четвёртым знаком. В работе это почти всегда самообман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28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Проблема одного разбиения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Разделили один раз, измерили — получили число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Разделили с другим random seed — получили другое число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выборке в тысячу объектов разброс может достигать нескольких процентов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Непонятно, модель стала лучше или просто повезло с разбиением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Решение — усреднить по нескольким разбиениям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29 / 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Кросс-валидация по k блокам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Делим на k частей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обычно 5 или 10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8886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661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Обучаем k раз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каждый раз одна часть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отложена для проверки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3823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598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Усредняем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получаем среднее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и разброс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Каждый объект ровно один раз побывал в проверочной части. На выходе не одно число, а среднее со стандартным отклонением — и это гораздо информативнее.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30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разные схемы делят выборку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cv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118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892884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Синее — обучение, красное — проверка. Стратификация сохраняет доли классов в каждом фолде, GroupKFold не даёт объектам одной группы попасть в обе части, а для временных рядов будущее вообще не используется.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31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Какую схему выбрать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4" cy="300244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5738"/>
                <a:gridCol w="7091476"/>
              </a:tblGrid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Схема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Когда применять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KFold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Базовый случай, задача регрессии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StratifiedKFold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Классификация: сохраняет доли классов в каждом блоке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GroupKFold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Объекты связаны в группы: несколько записей на одного пациента или клиента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TimeSeriesSplit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Есть время: обучаемся на прошлом, проверяем на будущем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LeaveOneOut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Очень мало данных; дорого и с большим разбросом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32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Разбор: неочевидные группы в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Где прячется зависимость между объектами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Медицина: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несколько снимков одного пациента. Группа — пациент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Банки: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несколько заявок одного клиента. Группа — клиент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Промышленность: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измерения с одного станка. Группа — станок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Тексты: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отзывы одного автора. Группа — автор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Геоданные: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объявления из одного дома. Группа — дом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Правило: если объекты можно объединить чем-то общим, что сохранится в будущем, — это группа, и её нельзя разрывать между обучением и проверкой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33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Две ошибки, которые ломают валидацию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Группы разъехались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У одного пациента десять снимков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Часть попала в обучение, часть в проверку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узнаёт пациента, а не болезнь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Лечение: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GroupKFold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Перепутано время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Случайное разбиение временного ряда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учится на будущем, предсказывает прошлое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 продакшене такой роскоши не будет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Лечение: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TimeSeriesSplit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34 /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Вы перебрали 200 конфигураций и выбрали лучшую по валидации. Что показывает её результат?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Честную оценку качества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Оценку, завышенную самим отбором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Заниженную оценку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То же, что дала бы кросс-валидация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35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Вы перебрали 200 конфигураций и выбрали лучшую по валидации. Что показывает её результат?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Честную оценку качества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Оценку, завышенную самим отбором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Заниженную оценку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То же, что дала бы кросс-валидация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Завышенную. Выбирая максимум из 200 замеров, вы выбираете вместе с качеством и удачный шум — это переобучение на валидации. Честное число даёт только отложенная тестовая выборка, которую трогают один раз, или вложенная кросс-валидация.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36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Переобучение на валидации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Тонкая ошибка, в которую попадают все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Вы перебрали сто конфигураций и выбрали лучшую по валидации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Её результат уже смещён вверх: вы выбрали то, чему больше повезло на этих блоках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Чем больше вариантов перебрано, тем сильнее смещение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Отсюда правило: тестовая выборка трогается один раз, в самом конце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серьёзных задач применяют вложенную кросс-валидацию: внешний цикл оценивает, внутренний подбирает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37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Вложенная кросс-валидация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Внешний цикл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оценивает качество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8886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661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Внутренний цикл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подбирает гиперпараметры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3823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598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Честная оценка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без смещения от подбора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Внутри каждого внешнего фолда идёт свой подбор параметров, и оценка получается несмещённой. Стоит это дорого: при пяти внешних и пяти внутренних фолдах модель обучается в 25 раз чаще. Применяют, когда данных мало и цена ошибки высока.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38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Чеклист честной валидации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Пробегитесь по нему перед тем, как поверить своему результату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Тестовая выборка отделена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до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любой обработки данных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Все преобразования внутри пайплайна, а не применены заранее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Схема разбиения учитывает структуру данных: группы, время, доли классов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Метрика выбрана под задачу и цену ошибок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Порог подобран на обучающих данных, а не на тесте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Разница между моделями сравнивается с разбросом между фолдами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Тест использован один раз — и после этого модель уже не менялась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39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Подбор гиперпараметров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такое гиперпараметр?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Параметры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модель выучивает сама — это веса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Гиперпараметры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задаёт человек до обучения: сила регуляризации, скорость обучения, степень полинома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Они управляют сложностью модели, то есть балансом смещения и разброса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Подбираются по валидации, а не по обучающей выборке и не по тесту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41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обычно настраивают?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4" cy="259418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5738"/>
                <a:gridCol w="7091476"/>
              </a:tblGrid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Главные гиперпараметры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Логистическая регрессия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C — сила регуляризации, class_weight — вес классов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Ridge и Lasso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alpha — сила штрафа за величину весов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Полиномиальные признаки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degree — степень, а с ней и число признаков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1883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Обучение градиентным спуском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learning_rate, число эпох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441273"/>
            <a:ext cx="10637215" cy="1868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Это модели, которые мы уже разобрали. У деревьев, ансамблей и метода соседей параметры свои — к ним вернёмся на следующих лекциях. Правило общее: начинайте с двух-трёх самых влиятельных, остальные обычно дают прирост в пределах шума.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42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Способы перебора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2602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9303"/>
                <a:gridCol w="4432172"/>
                <a:gridCol w="3545738"/>
              </a:tblGrid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Способ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Как работает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Когда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GridSearchCV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Полный перебор сетки значений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Мало параметров, дёшево обучать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RandomizedSearchCV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Случайные точки из заданных распределений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Параметров много, бюджет ограничен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Optuna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Байесовская оптимизация: следующая точка выбирается по результатам прошлых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Дорогое обучение, большой поиск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04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Halving-методы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Отсеивают слабые конфигурации на малой части данных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Очень большие выборки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43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Случайный поиск почти всегда лучше полного перебора при том же бюджете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Обычно значимы лишь несколько гиперпараметров из десятка. Сетка тратит попытки на перебор неважных, случайный поиск покрывает пространство равномернее.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44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Один бюджет, разный охват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grid_vs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788" y="1572768"/>
            <a:ext cx="9566119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Обоим дали 16 обучений. Сетка 4×4 пробует всего 4 значения C — по неважному tol она перебирает одно и то же. Случайный поиск пробует 16 разных C и потому улучшается с бюджетом плавно.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45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Полный перебор: GridSearchCV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382219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from sklearn.model_selection import GridSearchCV, StratifiedKFold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pipe = Pipeline([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   ("poly", PolynomialFeatures(include_bias=False)),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   ("scale", StandardScaler()),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   ("clf", LogisticRegression(max_iter=2000)),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])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cv = StratifiedKFold(n_splits=5, shuffle=True, random_state=42)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B7484"/>
                </a:solidFill>
                <a:latin typeface="Courier New"/>
              </a:rPr>
              <a:t># Параметр шага пайплайна пишется через двойное подчёркивание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grid = {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   "poly__degree": [1, 2],                  # 2 значения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   "clf__C": [0.01, 0.1, 1, 10],            # 4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   "clf__class_weight": [None, "balanced"], # 2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}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search = GridSearchCV(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   pipe, param_grid=grid, cv=cv,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    scoring="average_precision", n_jobs=-1,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search.fit(X_train, y_train)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181D27"/>
                </a:solidFill>
                <a:latin typeface="Courier New"/>
              </a:rPr>
              <a:t>print(search.best_params_, search.best_score_)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7784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2 × 4 × 2 = 16 комбинаций, каждая на 5 фолдах — 80 обучений. Добавили пятое значение C — уже 100, а ещё один параметр с тремя значениями — 300.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46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Случайный поиск: RandomizedSearchCV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382143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scipy.stats import loguniform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sklearn.model_selection import RandomizedSearchCV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dist = {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"poly__degree": [1, 2],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"clf__C": loguniform(1e-3, 1e3),    # не список, а распределение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"clf__class_weight": [None, "balanced"],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}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search = RandomizedSearchCV(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pipe, param_distributions=dist, n_iter=40, cv=cv,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scoring="average_precision", random_state=42, n_jobs=-1,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search.fit(X_train, y_train)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print(search.best_params_, search.best_score_)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77078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n_iter задаёт бюджет напрямую: 40 комбинаций — и столько же при десяти параметрах в словаре. loguniform обязателен: равномерное распределение почти все точки отдаст значениям C больше единицы.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47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Несколько метрик за один проход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371932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from sklearn.model_selection import cross_validate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6B7484"/>
                </a:solidFill>
                <a:latin typeface="Courier New"/>
              </a:rPr>
              <a:t># Несколько метрик сразу, плюс качество на обучающих блоках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scores = cross_validate(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search.best_estimator_, X_train, y_train, cv=cv,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scoring=["roc_auc", "average_precision", "f1"],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return_train_score=True,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for name in ["roc_auc", "average_precision", "f1"]: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test = scores[f"test_{name}"]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train = scores[f"train_{name}"]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print(f"{name}: {test.mean():.3f} ± {test.std():.3f}"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81D27"/>
                </a:solidFill>
                <a:latin typeface="Courier New"/>
              </a:rPr>
              <a:t>          f"  (на обучении {train.mean():.3f})")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7497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return_train_score показывает разрыв между обучением и валидацией — то есть степень переобучения. Смотреть на него стоит всегда.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48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Подбор через Optuna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Когда пространство поиска большое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331089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import optuna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def objective(trial):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params = {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    "C": trial.suggest_float("C", 1e-3, 1e3, log=True),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    "l1_ratio": trial.suggest_float("l1_ratio", 0.0, 1.0),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}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model.set_params(**params)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scores = cross_val_score(model, X_train, y_train,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                         cv=cv, scoring="average_precision")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   return scores.mean()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study = optuna.create_study(direction="maximize")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study.optimize(objective, n_trials=50)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181D27"/>
                </a:solidFill>
                <a:latin typeface="Courier New"/>
              </a:rPr>
              <a:t>print(study.best_params, study.best_value)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42026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Логарифмическая шкала для C обязательна: значения 0.001 и 0.01 различаются так же сильно, как 100 и 1000.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49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нужно унести с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Метрика выбирается под задачу и цену ошибок, а не берётся по умолчанию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Accuracy при дисбалансе бессмысленна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при дисбалансе смотрят PR-AUC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Порог решения — отдельный настраиваемый параметр, а не константа 0.5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Одно разбиение даёт случайное число; кросс-валидация даёт среднее и разброс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Схема валидации должна повторять реальность: группы, время, доли классов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Гиперпараметры подбираются на валидации;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тест трогается один раз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Чем больше вариантов перебрано, тем сильнее оптимистичное смещение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51 / 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Практика 4: строим ROC и PR-кривые руками, подбираем порог, запускаем Optuna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После практики выдаётся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домашняя работа 2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линейные модели и честная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почитать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scikit-learn, разделы Model evaluation и Cross-validation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Документация Optuna, раздел с примерами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Статья про различие ROC и PR-кривых при дисбалансе классов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4. Метрики и валидация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52 /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